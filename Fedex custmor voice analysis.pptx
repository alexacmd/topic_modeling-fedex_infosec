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entury Gothic Paneuropean" panose="020B0604020202020204" charset="0"/>
      <p:regular r:id="rId4"/>
    </p:embeddedFont>
    <p:embeddedFont>
      <p:font typeface="Crimson Pro Bold" panose="020B0604020202020204" charset="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entury Gothic Paneuropean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4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84187" y="3585113"/>
            <a:ext cx="10078213" cy="212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3"/>
              </a:lnSpc>
            </a:pPr>
            <a:r>
              <a:rPr lang="en-US" sz="9199" b="1" dirty="0">
                <a:solidFill>
                  <a:srgbClr val="000000"/>
                </a:solidFill>
                <a:latin typeface="+mj-lt"/>
                <a:ea typeface="Century Gothic Paneuropean Bold"/>
                <a:cs typeface="Century Gothic Paneuropean Bold"/>
                <a:sym typeface="Century Gothic Paneuropean Bold"/>
              </a:rPr>
              <a:t>FEDEX CUSTOMER VOICE ANALYSIS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3704487" y="677091"/>
            <a:ext cx="11061277" cy="2120078"/>
            <a:chOff x="0" y="0"/>
            <a:chExt cx="15240000" cy="29210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5240000" cy="2921000"/>
            </a:xfrm>
            <a:custGeom>
              <a:avLst/>
              <a:gdLst/>
              <a:ahLst/>
              <a:cxnLst/>
              <a:rect l="l" t="t" r="r" b="b"/>
              <a:pathLst>
                <a:path w="15240000" h="2921000">
                  <a:moveTo>
                    <a:pt x="0" y="0"/>
                  </a:moveTo>
                  <a:lnTo>
                    <a:pt x="15240000" y="0"/>
                  </a:lnTo>
                  <a:lnTo>
                    <a:pt x="15240000" y="2921000"/>
                  </a:lnTo>
                  <a:lnTo>
                    <a:pt x="0" y="292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5191761" y="6279552"/>
            <a:ext cx="790447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8"/>
              </a:lnSpc>
            </a:pPr>
            <a:r>
              <a:rPr lang="en-US" sz="3612" b="1" u="sng" dirty="0">
                <a:solidFill>
                  <a:srgbClr val="000000"/>
                </a:solidFill>
                <a:latin typeface="+mj-lt"/>
                <a:ea typeface="Crimson Pro Bold"/>
                <a:cs typeface="Crimson Pro Bold"/>
                <a:sym typeface="Crimson Pro Bold"/>
              </a:rPr>
              <a:t>Under the Guidance of Dr. </a:t>
            </a:r>
            <a:r>
              <a:rPr lang="en-US" sz="3612" b="1" u="sng" dirty="0" err="1">
                <a:solidFill>
                  <a:srgbClr val="000000"/>
                </a:solidFill>
                <a:latin typeface="+mj-lt"/>
                <a:ea typeface="Crimson Pro Bold"/>
                <a:cs typeface="Crimson Pro Bold"/>
                <a:sym typeface="Crimson Pro Bold"/>
              </a:rPr>
              <a:t>Nargis</a:t>
            </a:r>
            <a:r>
              <a:rPr lang="en-US" sz="3612" b="1" u="sng" dirty="0">
                <a:solidFill>
                  <a:srgbClr val="000000"/>
                </a:solidFill>
                <a:latin typeface="+mj-lt"/>
                <a:ea typeface="Crimson Pro Bold"/>
                <a:cs typeface="Crimson Pro Bold"/>
                <a:sym typeface="Crimson Pro Bold"/>
              </a:rPr>
              <a:t> </a:t>
            </a:r>
            <a:r>
              <a:rPr lang="en-US" sz="3612" b="1" u="sng" dirty="0" err="1">
                <a:solidFill>
                  <a:srgbClr val="000000"/>
                </a:solidFill>
                <a:latin typeface="+mj-lt"/>
                <a:ea typeface="Crimson Pro Bold"/>
                <a:cs typeface="Crimson Pro Bold"/>
                <a:sym typeface="Crimson Pro Bold"/>
              </a:rPr>
              <a:t>Pervin</a:t>
            </a:r>
            <a:endParaRPr lang="en-US" sz="3612" b="1" u="sng" dirty="0">
              <a:solidFill>
                <a:srgbClr val="000000"/>
              </a:solidFill>
              <a:latin typeface="+mj-lt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37416" y="7135686"/>
            <a:ext cx="5013168" cy="26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 b="1" dirty="0">
                <a:solidFill>
                  <a:srgbClr val="000000"/>
                </a:solidFill>
                <a:latin typeface="+mj-lt"/>
                <a:ea typeface="Century Gothic Paneuropean Bold"/>
                <a:cs typeface="Century Gothic Paneuropean Bold"/>
                <a:sym typeface="Century Gothic Paneuropean Bold"/>
              </a:rPr>
              <a:t>RESEARCH TEAM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Aditi </a:t>
            </a:r>
            <a:r>
              <a:rPr lang="en-US" sz="2799" dirty="0" err="1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Deo</a:t>
            </a:r>
            <a:r>
              <a:rPr lang="en-US" sz="2799" dirty="0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 Singh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Alan Alex Mathew</a:t>
            </a:r>
          </a:p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Bhavya</a:t>
            </a:r>
            <a:r>
              <a:rPr lang="en-US" sz="2799" dirty="0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Dhingra</a:t>
            </a:r>
            <a:endParaRPr lang="en-US" sz="2799" dirty="0">
              <a:solidFill>
                <a:srgbClr val="000000"/>
              </a:solidFill>
              <a:latin typeface="+mj-lt"/>
              <a:ea typeface="Century Gothic Paneuropean"/>
              <a:cs typeface="Century Gothic Paneuropean"/>
              <a:sym typeface="Century Gothic Paneuropean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Utsav</a:t>
            </a:r>
            <a:r>
              <a:rPr lang="en-US" sz="2799" dirty="0">
                <a:solidFill>
                  <a:srgbClr val="000000"/>
                </a:solidFill>
                <a:latin typeface="+mj-lt"/>
                <a:ea typeface="Century Gothic Paneuropean"/>
                <a:cs typeface="Century Gothic Paneuropean"/>
                <a:sym typeface="Century Gothic Paneuropean"/>
              </a:rPr>
              <a:t> Bhardwaj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9643" y="2061085"/>
            <a:ext cx="2316511" cy="3959847"/>
          </a:xfrm>
          <a:custGeom>
            <a:avLst/>
            <a:gdLst/>
            <a:ahLst/>
            <a:cxnLst/>
            <a:rect l="l" t="t" r="r" b="b"/>
            <a:pathLst>
              <a:path w="2316511" h="3959847">
                <a:moveTo>
                  <a:pt x="0" y="0"/>
                </a:moveTo>
                <a:lnTo>
                  <a:pt x="2316510" y="0"/>
                </a:lnTo>
                <a:lnTo>
                  <a:pt x="2316510" y="3959847"/>
                </a:lnTo>
                <a:lnTo>
                  <a:pt x="0" y="3959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0000" y="2194859"/>
            <a:ext cx="6858000" cy="3794220"/>
          </a:xfrm>
          <a:custGeom>
            <a:avLst/>
            <a:gdLst/>
            <a:ahLst/>
            <a:cxnLst/>
            <a:rect l="l" t="t" r="r" b="b"/>
            <a:pathLst>
              <a:path w="6986122" h="3772506">
                <a:moveTo>
                  <a:pt x="0" y="0"/>
                </a:moveTo>
                <a:lnTo>
                  <a:pt x="6986122" y="0"/>
                </a:lnTo>
                <a:lnTo>
                  <a:pt x="6986122" y="3772506"/>
                </a:lnTo>
                <a:lnTo>
                  <a:pt x="0" y="3772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56168" y="6764882"/>
            <a:ext cx="8136007" cy="3015210"/>
          </a:xfrm>
          <a:custGeom>
            <a:avLst/>
            <a:gdLst/>
            <a:ahLst/>
            <a:cxnLst/>
            <a:rect l="l" t="t" r="r" b="b"/>
            <a:pathLst>
              <a:path w="8136007" h="2434671">
                <a:moveTo>
                  <a:pt x="0" y="0"/>
                </a:moveTo>
                <a:lnTo>
                  <a:pt x="8136007" y="0"/>
                </a:lnTo>
                <a:lnTo>
                  <a:pt x="8136007" y="2434671"/>
                </a:lnTo>
                <a:lnTo>
                  <a:pt x="0" y="2434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" r="-29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685800" y="76879"/>
            <a:ext cx="655320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63"/>
              </a:lnSpc>
              <a:spcBef>
                <a:spcPct val="0"/>
              </a:spcBef>
            </a:pPr>
            <a:r>
              <a:rPr lang="en-US" sz="4759" b="1" u="sng" dirty="0" smtClean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Topic Modeling</a:t>
            </a:r>
            <a:endParaRPr lang="en-US" sz="4759" b="1" u="sng" dirty="0">
              <a:solidFill>
                <a:srgbClr val="000000"/>
              </a:solidFill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9598" y="1395392"/>
            <a:ext cx="351660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3069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Flow-Diagram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4677" y="1403148"/>
            <a:ext cx="716672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Open Source Modules &amp; Dependencies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96121" y="1393623"/>
            <a:ext cx="2249495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 b="1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99" y="6315620"/>
            <a:ext cx="10014094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Results</a:t>
            </a:r>
          </a:p>
          <a:p>
            <a:pPr algn="l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The model has managed to achieve an accuracy of </a:t>
            </a:r>
            <a:r>
              <a:rPr lang="en-US" sz="1700" b="1" dirty="0" smtClean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~64% </a:t>
            </a: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when compared with the ground truth labeling done by the research team. </a:t>
            </a:r>
          </a:p>
          <a:p>
            <a:pPr algn="l">
              <a:lnSpc>
                <a:spcPts val="1756"/>
              </a:lnSpc>
              <a:spcBef>
                <a:spcPct val="0"/>
              </a:spcBef>
            </a:pPr>
            <a:r>
              <a:rPr lang="en-US" sz="1254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*The accuracy might vary due to llama sometimes not sticking to the original 12 topics(taken from the  FedEx website) and giving its own topics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899" y="7983879"/>
            <a:ext cx="10014094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Limitations</a:t>
            </a:r>
          </a:p>
          <a:p>
            <a:pPr marL="367031" lvl="1" indent="-183515" algn="l">
              <a:lnSpc>
                <a:spcPts val="3485"/>
              </a:lnSpc>
              <a:buFont typeface="Arial"/>
              <a:buChar char="•"/>
            </a:pP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Preprocessing wiping out contextual meaning(which is needed due to strong noise)</a:t>
            </a:r>
          </a:p>
          <a:p>
            <a:pPr marL="367031" lvl="1" indent="-183515" algn="l">
              <a:lnSpc>
                <a:spcPts val="3485"/>
              </a:lnSpc>
              <a:buFont typeface="Arial"/>
              <a:buChar char="•"/>
            </a:pP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Llama giving out self-labels(reduces the overall accuracy</a:t>
            </a:r>
            <a:r>
              <a:rPr lang="en-US" sz="1700" b="1" dirty="0" smtClean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)</a:t>
            </a:r>
          </a:p>
          <a:p>
            <a:pPr marL="367031" lvl="1" indent="-183515">
              <a:lnSpc>
                <a:spcPts val="3485"/>
              </a:lnSpc>
              <a:buFont typeface="Arial"/>
              <a:buChar char="•"/>
            </a:pP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Few-shot examples are currently </a:t>
            </a:r>
            <a:r>
              <a:rPr lang="en-US" sz="1700" b="1" dirty="0" err="1" smtClean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abit</a:t>
            </a:r>
            <a:r>
              <a:rPr lang="en-US" sz="1700" b="1" dirty="0" smtClean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 vague</a:t>
            </a:r>
            <a:r>
              <a:rPr lang="en-US" sz="1700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, which limits precision for complex intents.</a:t>
            </a:r>
            <a:endParaRPr lang="en-US" sz="1700" b="1" dirty="0">
              <a:solidFill>
                <a:srgbClr val="000000"/>
              </a:solidFill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306801" y="6020932"/>
            <a:ext cx="198120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46"/>
              </a:lnSpc>
              <a:spcBef>
                <a:spcPct val="0"/>
              </a:spcBef>
            </a:pPr>
            <a:r>
              <a:rPr lang="en-US" sz="1318" b="1" dirty="0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*Created using </a:t>
            </a:r>
            <a:r>
              <a:rPr lang="en-US" sz="1318" b="1" dirty="0" err="1">
                <a:solidFill>
                  <a:srgbClr val="000000"/>
                </a:solidFill>
                <a:ea typeface="Century Gothic Paneuropean Bold"/>
                <a:cs typeface="Century Gothic Paneuropean Bold"/>
                <a:sym typeface="Century Gothic Paneuropean Bold"/>
              </a:rPr>
              <a:t>PowerBI</a:t>
            </a:r>
            <a:endParaRPr lang="en-US" sz="1318" b="1" dirty="0">
              <a:solidFill>
                <a:srgbClr val="000000"/>
              </a:solidFill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638285"/>
            <a:ext cx="4952275" cy="3350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</Words>
  <Application>Microsoft Office PowerPoint</Application>
  <PresentationFormat>Custom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Century Gothic Paneuropean</vt:lpstr>
      <vt:lpstr>Arial</vt:lpstr>
      <vt:lpstr>Crimson Pro Bold</vt:lpstr>
      <vt:lpstr>Calibri</vt:lpstr>
      <vt:lpstr>Century Gothic Paneuropean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Fedex custmor voice analysis</dc:title>
  <cp:lastModifiedBy>Administrator</cp:lastModifiedBy>
  <cp:revision>5</cp:revision>
  <dcterms:created xsi:type="dcterms:W3CDTF">2006-08-16T00:00:00Z</dcterms:created>
  <dcterms:modified xsi:type="dcterms:W3CDTF">2025-11-21T11:33:45Z</dcterms:modified>
  <dc:identifier>DAG5TobJ7z0</dc:identifier>
</cp:coreProperties>
</file>